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n.wikipedia.org/wiki/Stuttgart_Region?utm_source=chatgpt.com" TargetMode="External"/><Relationship Id="rId3" Type="http://schemas.openxmlformats.org/officeDocument/2006/relationships/hyperlink" Target="https://www.citypopulation.de/en/germany/admin/?utm_source=chatgpt.com" TargetMode="External"/><Relationship Id="rId4" Type="http://schemas.openxmlformats.org/officeDocument/2006/relationships/hyperlink" Target="https://www.rome2rio.com/s/Berlin/Baden-W%C3%BCrttemberg?utm_source=chatgpt.com" TargetMode="External"/><Relationship Id="rId5" Type="http://schemas.openxmlformats.org/officeDocument/2006/relationships/hyperlink" Target="https://de.wikipedia.org/wiki/Baden-W%C3%BCrttemberg?utm_source=chatgpt.com" TargetMode="External"/><Relationship Id="rId6" Type="http://schemas.openxmlformats.org/officeDocument/2006/relationships/hyperlink" Target="https://en.wikipedia.org/wiki/Regierungsbezirk?utm_source=chatgpt.com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Berlin_Step1_Overview_Bezirke"/>
          <p:cNvGraphicFramePr/>
          <p:nvPr/>
        </p:nvGraphicFramePr>
        <p:xfrm>
          <a:off x="971529" y="330104"/>
          <a:ext cx="8064501" cy="3721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816100"/>
                <a:gridCol w="711200"/>
                <a:gridCol w="762000"/>
                <a:gridCol w="1054100"/>
                <a:gridCol w="3670300"/>
              </a:tblGrid>
              <a:tr h="351332">
                <a:tc gridSpan="5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Berlin_Step1_Overview_Bezirke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Bezirk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Area_km2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Ortsteile_Count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Highlights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Mitte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39.5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385000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مركز العاصمة – مزيج دولي – برلمان – Friedrichstraße – Alexanderplatz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Friedrichshain-Kreuzberg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20.2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290000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ثقافي، شبابي، فن حضري، شارع العرب Kreuzberg، Warschauer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Pankow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103.1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417000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عائلي راقٍ، Prenzlauer Berg من أغنى المناطق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Charlottenburg-Wilmersdorf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64.7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344000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مناطق راقية، Ku’damm – التسوق الفاخر، صالونات راقية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Spandau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91.9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245000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تاريخية، سكنية تقليدية، مجتمعات عربية وشرق أوسطية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Steglitz-Zehlendorf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102.5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310000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أعلى مستوى معيشة في برلين، Schloßstraße – تسوق راقٍ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Tempelhof-Schöneberg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53.1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351000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طبقة متوسطة عليا، حي LGBTQ، Akazienstraße – تجاري محلي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Neukölln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44.9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331000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أقوى وجود عربي وتركي – Sonnenallee – Hermannstraße – Karl-Marx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Treptow-Köpenick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168.4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280000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أكبر مناطق برلين – طبيعة وخدمات سكنية – Köpenick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Marzahn-Hellersdorf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61.7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271000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عائلي، منخفض الدخل، مراكز تسوق داخلية – Marzahner Promenade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Lichtenberg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52.3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296000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طبقة عاملة، سكني، يتضمن مزيجًا ألمانيًا روسيًا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Reinickendorf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89.5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268000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شمالي، عائلي، Alt-Tegel وResidenzstraße مناطق نشطة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Berlin_Step2_Mitte_Ortsteile"/>
          <p:cNvGraphicFramePr/>
          <p:nvPr/>
        </p:nvGraphicFramePr>
        <p:xfrm>
          <a:off x="996079" y="3959324"/>
          <a:ext cx="6083301" cy="2197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079500"/>
                <a:gridCol w="762000"/>
                <a:gridCol w="2082800"/>
                <a:gridCol w="21082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Berlin_Step2_Mitte_Ortsteile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Mitte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Alexanderplatz, Regierungsviertel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سياسي، سياحي، مزيج دولي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Moabit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Turmstraße, Bellevue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مجتمعات عربية وتركية، كثافة صالونات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Hansaviertel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5800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S-Bahn Tiergarten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سكنية صغيرة، قريبة من الحدائق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Tiergarten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Großer Tiergarten, Zoo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أهم المساحات الخضراء، سياحي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Wedding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84000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Müllerstraße, Leopoldplatz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أقوى وجود تركي وعربي، أسعار منخفضة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Gesundbrunnen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98000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Gesundbrunnen Center, Badstraße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مراكز تسوق، مجتمعات مهاجرة، محطة رئيسية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Berlin_Step3_Friedrichshain_Kreuzberg_Ortsteile"/>
          <p:cNvGraphicFramePr/>
          <p:nvPr/>
        </p:nvGraphicFramePr>
        <p:xfrm>
          <a:off x="976217" y="6137921"/>
          <a:ext cx="7581901" cy="11684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977900"/>
                <a:gridCol w="762000"/>
                <a:gridCol w="3263900"/>
                <a:gridCol w="25273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Berlin_Step3_Friedrichshain_Kreuzberg_Ortsteile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Friedrichshain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Warschauer Straße, Boxhagener Platz, Frankfurter Allee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شبابي، هيبستر، صالونات حلاقة عصرية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Kreuzberg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153000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Kottbusser Tor, Oranienstraße, Görlitzer Park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مجتمع عربي-تركي نشط، ثقافة حضرية، كثافة صالونات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Berlin_Step4_Pankow_Ortsteile"/>
          <p:cNvGraphicFramePr/>
          <p:nvPr/>
        </p:nvGraphicFramePr>
        <p:xfrm>
          <a:off x="979801" y="7294739"/>
          <a:ext cx="6819901" cy="3975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816100"/>
                <a:gridCol w="762000"/>
                <a:gridCol w="2070100"/>
                <a:gridCol w="21209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Berlin_Step4_Pankow_Ortsteile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Prenzlauer 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Schönhauser Allee, Kastanienallee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عصرية، شريحة شابة، صالونات عضوية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Pankow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Breite Straße, Rathaus-Center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تقليدي، عائلي، متوسط الدخل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Weißensee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54000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Berliner Allee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هادئ، متوسط الدخل، نمو عمراني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Blankenburg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6800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Alt-Blankenburg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سكنية منخفضة الكثافة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Karow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Bucher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حي جديد نسبيًا، عائلي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Heinersdorf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Romain-Rolland-Straße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بسيط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Niederschönhausen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Hermann-Hesse-Straße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راقٍ، كبار السن، صالونات كلاسيكية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Rosenthal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Hauptstraße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سكن هادئ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Französisch Buchholz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Blankenburger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عائلي، منخفض الكثافة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Buch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15000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Wiltbergstraße, Helios Klinikum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مستشفيات، سكني وطبقة عاملة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Wilhelmsruh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Hauptstraße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حي صغير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Blankenfelde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1500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Off residential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مفتوحة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Stadtrandsiedlung Malchow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1200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Mostly rural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شبه ريفي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Berlin_Step5_Charlottenburg_Wilmersdorf_Ortsteile"/>
          <p:cNvGraphicFramePr/>
          <p:nvPr/>
        </p:nvGraphicFramePr>
        <p:xfrm>
          <a:off x="9495379" y="335773"/>
          <a:ext cx="6248401" cy="2451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384300"/>
                <a:gridCol w="762000"/>
                <a:gridCol w="2070100"/>
                <a:gridCol w="19812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Berlin_Step5_Charlottenburg_Wilmersdorf_Ortsteile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Charlottenburg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Kurfürstendamm, Savignyplatz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تسوق فاخر، صالونات راقية، سكن حضري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Wilmersdorf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Blissestraße, Bundesallee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راقٍ، كبار السن، صالونات كلاسيكية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Grunewald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Hundekehlestraße, Havelchaussee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أغنى مناطق برلين، فلل وسكن فخم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Westend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Olympiastadion, Reichsstraße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راقٍ، منازل خاصة، هادئ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Schmargendorf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Berkaer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حي صغير وراقي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Halensee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Kurfürstendamm West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قريب من التسوق، حي صغير فاخر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Charlottenburg-Nord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19000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Jakob-Kaiser-Platz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عملي، سكان من خلفيات متعددة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" name="Berlin_Step6_Spandau_Ortsteile"/>
          <p:cNvGraphicFramePr/>
          <p:nvPr/>
        </p:nvGraphicFramePr>
        <p:xfrm>
          <a:off x="9463629" y="3012890"/>
          <a:ext cx="6311901" cy="2959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308100"/>
                <a:gridCol w="762000"/>
                <a:gridCol w="2260600"/>
                <a:gridCol w="19304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Berlin_Step6_Spandau_Ortsteile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Spandau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39000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Altstadt Spandau, Carl-Schurz-Straße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تاريخي، عربي-تركي، مركز تجاري تقليدي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Falkenhagener Feld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Westerwaldstraße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سكني، كثافة سكانية، خدمات متعددة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Wilhelmstadt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41000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Pichelsdorfer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متنوع ثقافيًا، متوسط الدخل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Staaken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45000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Brunsbütteler Damm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كثافة عالية، عائلي، صالونات محلية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Gatow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Alt-Gatow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فلل صغيرة، هادئة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Kladow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Kladower Damm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أطراف خضراء، مجمعات صغيرة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Hakenfelde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33000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Neuendorfer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مزيج سكني، قرب من النهر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Haselhorst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Daumstraße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صناعية-سكنية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Siemensstadt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Nonnendammallee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صناعية، مكاتب ومساكن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" name="Berlin_Step7_Steglitz_Zehlendorf_Ortsteile"/>
          <p:cNvGraphicFramePr/>
          <p:nvPr/>
        </p:nvGraphicFramePr>
        <p:xfrm>
          <a:off x="9474200" y="5962467"/>
          <a:ext cx="5486400" cy="2705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003300"/>
                <a:gridCol w="762000"/>
                <a:gridCol w="1917700"/>
                <a:gridCol w="17526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Berlin_Step7_Steglitz_Zehlendorf_Ortsteile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Steglitz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76800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Schloßstraße, Albrechtstraße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تجاري راقٍ، صالونات عالية الجودة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Lichterfelde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86100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Ostpreußendamm, Kranoldplatz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عائلي، متوسط إلى راقٍ، فلل ومجمعات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Lankwitz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45200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Leonorenstraße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حي هادئ وعائلي، صالونات تقليدية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Zehlendorf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62400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Clayallee, Teltower Damm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راقٍ جدًا، سكن فخم، سائحين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Dahlem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8200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Thielallee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جامعات وسكن خاص فاخر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Nikolassee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Spanische Allee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هادئ، فلل، طبقة عالية جدًا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Wannsee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10200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Königstraße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قرب البحيرات، سكن استجمامي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Schlachtensee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Breisgauer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فلل فاخرة، حي صغير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Berlin_Step8_Tempelhof_Schoeneberg_Ortsteile"/>
          <p:cNvGraphicFramePr/>
          <p:nvPr/>
        </p:nvGraphicFramePr>
        <p:xfrm>
          <a:off x="9440657" y="8654932"/>
          <a:ext cx="6007101" cy="2197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850900"/>
                <a:gridCol w="762000"/>
                <a:gridCol w="2057400"/>
                <a:gridCol w="22860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Berlin_Step8_Tempelhof_Schoeneberg_Ortsteile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Tempelhof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61500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Tempelhofer Damm, Ullsteinstraße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تجاري، طبقة متوسطة، صالونات متنوعة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Schöneberg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120000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Akazienstraße, Nollendorfplatz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حيوي، LGBT+, مزيج ثقافي، سياحي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Mariendorf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Mariendorfer Damm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متوسط، مجتمع تقليدي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Marienfelde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Hildburghauser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سكني، مزيج ثقافي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Lichtenrade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54000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Bahnhofstraße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عائلي، منخفض الكثافة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Friedenau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28000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Rheinstrasse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راقي صغير، مجتمع نخبوي، مقاهي ومراكز تجميل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" name="Berlin_Step9_Neukoelln_Ortsteile"/>
          <p:cNvGraphicFramePr/>
          <p:nvPr/>
        </p:nvGraphicFramePr>
        <p:xfrm>
          <a:off x="9314770" y="10687344"/>
          <a:ext cx="7200901" cy="19304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901700"/>
                <a:gridCol w="762000"/>
                <a:gridCol w="2806700"/>
                <a:gridCol w="26797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Berlin_Step9_Neukoelln_Ortsteile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Neukölln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165000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Sonnenallee, Karl-Marx-Straße, Hermannstraße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عرب، أتراك، محلات شرقية، صالونات رجالية بكثافة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Britz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41000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Blaschkoallee, Gutschmidtstraße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هادئ، متوسط الدخل، فرص للأسواق المحلية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Buckow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Johannisthaler Chaussee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فلل وشقق عائلية، كثافة متوسطة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Rudow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Groß-Ziethener Chaussee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أطراف هادئة، مناسبة للأسواق الصغيرة والعروض المتنقلة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Gropiusstadt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Gropius Passagen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مراكز تجارية ضخمة، صالونات شعبية، تنوع جنسي وثقافي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" name="Berlin_Step10_Treptow_Koepenick_Ortsteile"/>
          <p:cNvGraphicFramePr/>
          <p:nvPr/>
        </p:nvGraphicFramePr>
        <p:xfrm>
          <a:off x="16531532" y="279974"/>
          <a:ext cx="6680201" cy="4483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320800"/>
                <a:gridCol w="762000"/>
                <a:gridCol w="2019300"/>
                <a:gridCol w="25273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Berlin_Step10_Treptow_Koepenick_Ortsteile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Alt-Treptow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Treptower Park, Elsenstraße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حضري، مقاهي وفن حضري، قرب Kreuzberg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Plänterwald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Am Plänterwald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قرب من الحدائق والنهر، سكني وهادئ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Baumschulenweg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Baumschulenstraße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عائلي، متوسط الدخل، خدمات محلية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Johannisthal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Winckelmannstraße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هادئ، مجتمع متقدم بالعمر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Niederschöneweide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12000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Brückenstraße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قريب من النهر، مجمعات جديدة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Oberschöneweide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23000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Wilhelminenhofstraße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مدارس، مجتمعات شبابية، نشاط محلي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Köpenick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64000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Bahnhofstraße, Altstadt Köpenick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أكبر حي، مركز تجاري محلي، محلات قوية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Friedrichshagen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18000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Bölschestraße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فنية وسياحية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Rahnsdorf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Fürstenwalder Damm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شبه ريفي، مناسب لعروض متنقلة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Grünau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Regattastraße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هدوء، قرب البحيرات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Altglienicke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28000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Ortolfstraße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عائلي، مدارس، كثافة بشرية جيدة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Bohnsdorf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Falkenbrunnstraße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مجمعات جديدة، سكن منظم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Grünau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Regattastraße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طبيعة هادئة، إمكانية توزيع متجول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Müggelheim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6500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Müggelheimer Damm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بعيد، سياحي، مناسب للعطلات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Schmöckwitz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4500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Adlergestell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أقصى الجنوب الشرقي، ريفي جداً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Berlin_Step11_Marzahn_Hellersdorf_Ortsteile"/>
          <p:cNvGraphicFramePr/>
          <p:nvPr/>
        </p:nvGraphicFramePr>
        <p:xfrm>
          <a:off x="16632876" y="4755679"/>
          <a:ext cx="6311901" cy="19304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787400"/>
                <a:gridCol w="762000"/>
                <a:gridCol w="2311400"/>
                <a:gridCol w="24003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Berlin_Step11_Marzahn_Hellersdorf_Ortsteile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Biesdorf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29000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Biesdorf Center, Blumberger Damm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عائلي، فلل، متوسط الدخل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Hellersdorf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89000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Hellersdorfer Straße, U-Bhf Hellersdorf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كثافة سكانية عالية، مساكن شعبية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Kaulsdorf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19000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Köpenicker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فلل، سكني راقٍ، مزيج ثقافي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Mahlsdorf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Hultschiner Damm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فلل ومساكن حديثة، منطقة مرتفعة الطلب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Marzahn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Marzahner Promenade, Eastgate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مركز تجاري رئيسي، كثافة سكانية، فرص توزيع عالية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" name="Berlin_Step12_Lichtenberg_Ortsteile"/>
          <p:cNvGraphicFramePr/>
          <p:nvPr/>
        </p:nvGraphicFramePr>
        <p:xfrm>
          <a:off x="16785527" y="6922697"/>
          <a:ext cx="6731001" cy="29591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612900"/>
                <a:gridCol w="762000"/>
                <a:gridCol w="2336800"/>
                <a:gridCol w="1968500"/>
              </a:tblGrid>
              <a:tr h="351332">
                <a:tc gridSpan="4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Berlin_Step12_Lichtenberg_Ortsteile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Ortsteil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Key_Areas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Community_Notes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Falkenberg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2500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Falkenberger Chaussee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ريفي، فرص محدودة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Fennpfuhl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Weißenseer Weg, Anton-Saefkow-Platz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كثافة سكانية، صالونات وأسواق محلية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Friedrichsfelde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Rhinstraße, Tierpark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قرب حديقة الحيوانات، سكني متوسط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Karlshorst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Treskowallee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منطقة سكنية راقية، مجتمع أكاديمي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Lichtenberg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Möllendorffstraße, Rathauspark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مركز المنطقة، كثافة مرتفعة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476017"/>
                        <a:lumOff val="-100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Malchow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450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Malchower Dorfstraße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ريفي، نادر الاستخدام تجاريًا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Neu-Hohenschönhausen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55000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Zingster Straße, Wartenberger 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كثافة سكانية مرتفعة، مساكن جماعية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Rummelsburg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Hauptstraße, Rummelsburger Bucht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حديث وعصري، مناسب للصالونات الجديدة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Alt-Hohenschönhausen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27000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Konrad-Wolf-Straße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سكني تقليدي، مجتمع مختلط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✅ خطة التوزيع المعتمدة – منطقة Neukölln…"/>
          <p:cNvSpPr txBox="1"/>
          <p:nvPr/>
        </p:nvSpPr>
        <p:spPr>
          <a:xfrm>
            <a:off x="945103" y="568592"/>
            <a:ext cx="4111653" cy="3510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خطة التوزيع المعتمدة – منطقة Neukölln</a:t>
            </a: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الهدف العام للموزع المعتمد في Neukölln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تغطية جميع الأحياء الـ 5 (Ortsteile) دون استثناء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بناء شبكة تشمل: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موزع رئيسي واحد (Showroom + مركز توزيع)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عدد من تجار الجملة (حسب التقسيم الجغرافي)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شبكة صالونات رجالية ومختلطة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وضع استاند في المحلات والأسواق الحيوية</a:t>
            </a:r>
          </a:p>
        </p:txBody>
      </p:sp>
      <p:graphicFrame>
        <p:nvGraphicFramePr>
          <p:cNvPr id="185" name="Table 1"/>
          <p:cNvGraphicFramePr/>
          <p:nvPr/>
        </p:nvGraphicFramePr>
        <p:xfrm>
          <a:off x="1380171" y="5011668"/>
          <a:ext cx="5767567" cy="58770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141234"/>
                <a:gridCol w="1613632"/>
              </a:tblGrid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التفاصيل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البند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يقع في Hermannstraße 170 – Showroom ومركز توزيع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الموزع المعتمد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 (Neukölln, Britz, Buckow, Rudow, Gropiusstadt)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عدد الأحياء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3 تجار جملة رئيسيين موزعين جغرافيًا لتغطية الأحياء بـ 15–20 دقيقة بالسيارة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عدد التجار المطلوبين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15 - 25  على الأقل (3–5 في كل حي)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عدد استاندات البيع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25–30 صالونًا (بكثافة في Neukölln و Gropiusstadt)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عدد الصالونات المستهدفة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20 متجرًا (بما يشمل Arab/Turkish markets و mini markets)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عدد المحلات/سوبرماركت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Gropius Passagen – مركز مفضل لوضع استاند دائم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الأسواق الكبرى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Sonnenallee – Karl-Marx-Straße – Hermannstraße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شوارع رئيسية للتوزيع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عربية، تركية، أفريقية، شرق أوروبية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الجاليات السائدة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186" name="🎯 أهداف الموزع المعتمد في أول 6 أشهر:"/>
          <p:cNvSpPr txBox="1"/>
          <p:nvPr/>
        </p:nvSpPr>
        <p:spPr>
          <a:xfrm>
            <a:off x="8594471" y="429682"/>
            <a:ext cx="3768611" cy="103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🎯 أهداف الموزع المعتمد في أول 6 أشهر: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87" name="🧭 الهيكل المقترح لتوزيع HAIROTICMEN في Neukölln"/>
          <p:cNvSpPr txBox="1"/>
          <p:nvPr/>
        </p:nvSpPr>
        <p:spPr>
          <a:xfrm>
            <a:off x="1216338" y="4252331"/>
            <a:ext cx="5430038" cy="103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🧭 الهيكل المقترح لتوزيع HAIROTICMEN في Neukölln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graphicFrame>
        <p:nvGraphicFramePr>
          <p:cNvPr id="188" name="Table 1-1"/>
          <p:cNvGraphicFramePr/>
          <p:nvPr/>
        </p:nvGraphicFramePr>
        <p:xfrm>
          <a:off x="8395976" y="1086501"/>
          <a:ext cx="6350001" cy="351859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74415"/>
                <a:gridCol w="752062"/>
                <a:gridCol w="2472460"/>
              </a:tblGrid>
              <a:tr h="450730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الهدف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الكمية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الملاحظات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507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Showroom 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With Hairoticmen Brand Only Hairoticmen Product 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507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use hairoticmen 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25-30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صالونات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10021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Hairoticmen Stand 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15-25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 ميني ماركت، متاجر حلاقة, Mall, Harper market ,تركيب أستاندات في نقاط حيوية
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04192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Dealer - 500- 5000 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3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موزعين لأحياء الجنوب، الغرب، المركز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507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تغطية 100% من الأحياء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5/5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بضمان وجود على الأقل نقطة بيع واحدة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507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بناء شبكة علاقات مع الجاليات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مستمرة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دعم عبر حملات تسويق اجتماعي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507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Feed Back And Reports 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Monthly 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189" name="🗂️ التقسيم الجغرافي لتجار الجملة:"/>
          <p:cNvSpPr txBox="1"/>
          <p:nvPr/>
        </p:nvSpPr>
        <p:spPr>
          <a:xfrm>
            <a:off x="8233708" y="5056312"/>
            <a:ext cx="3384476" cy="103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🗂️ التقسيم الجغرافي لتجار الجملة: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90" name="📊 إحصائيات سريعة – Neukölln…"/>
          <p:cNvSpPr txBox="1"/>
          <p:nvPr/>
        </p:nvSpPr>
        <p:spPr>
          <a:xfrm>
            <a:off x="15190168" y="454116"/>
            <a:ext cx="7128922" cy="7532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📊 إحصائيات سريعة – Neukölln</a:t>
            </a: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💈 عدد الصالونات الرجالي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تقدير تقريبي</a:t>
            </a:r>
            <a:r>
              <a:t>: يوجد حوالي 150–200 صالونًا في منطقة Neukölln، مع تركيز عالٍ في الأحياء التالية: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Neukölln</a:t>
            </a:r>
            <a:r>
              <a:t> (الحي المركزي): أكثر من 50 صالونًا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Gropiusstadt</a:t>
            </a:r>
            <a:r>
              <a:t>: حوالي 30–40 صالونًا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Britz وRudow</a:t>
            </a:r>
            <a:r>
              <a:t>: حوالي 40–50 صالونًا</a:t>
            </a: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🛒 عدد المتاجر والسوبرماركت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سلاسل كبرى</a:t>
            </a:r>
            <a:r>
              <a:t>: REWE، Kaufland، Aldi، Lidl، Eurogida، Bio Company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Spätis (متاجر صغيرة)</a:t>
            </a:r>
            <a:r>
              <a:t>: تقديرًا، يوجد حوالي 150–200 متجرًا في Neukölln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مراكز تجارية رئيسية</a:t>
            </a:r>
            <a:r>
              <a:rPr b="0"/>
              <a:t>: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Neukölln Arcaden</a:t>
            </a:r>
            <a:r>
              <a:t>: مركز تسوق كبير في قلب Neukölln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Gropius Passagen</a:t>
            </a:r>
            <a:r>
              <a:t>: أحد أكبر المراكز التجارية في برلين</a:t>
            </a: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🛣️ الشوارع التجارية الحيوية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Karl-Marx-Straße</a:t>
            </a:r>
            <a:r>
              <a:t>: الشارع التجاري الرئيسي في Neukölln، يمتد لحوالي 3 كم ويضم العديد من المحلات والمراكز التجارية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Sonnenallee</a:t>
            </a:r>
            <a:r>
              <a:t>: شارع معروف بتنوعه الثقافي، يضم العديد من المتاجر والمطاعم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Hermannstraße</a:t>
            </a:r>
            <a:r>
              <a:t>: شارع حيوي يضم مجموعة متنوعة من المتاجر والمراكز التجارية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graphicFrame>
        <p:nvGraphicFramePr>
          <p:cNvPr id="191" name="Table 1-3"/>
          <p:cNvGraphicFramePr/>
          <p:nvPr/>
        </p:nvGraphicFramePr>
        <p:xfrm>
          <a:off x="8275645" y="8908717"/>
          <a:ext cx="6076924" cy="353129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82260"/>
                <a:gridCol w="4581963"/>
              </a:tblGrid>
              <a:tr h="586432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الموقع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ملاحظات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Neukölln Arcaden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مركز تسوق كبير، موقع مثالي لأستاند دائم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Gropius Passagen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مركز تجاري ضخم، يجذب عددًا كبيرًا من الزوار يوميًا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Sonnenallee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شارع حيوي يضم العديد من المتاجر والمطاعم، مناسب لأستاندات متنقلة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Hermannstraße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شارع مزدحم يضم مجموعة متنوعة من المتاجر، موقع جيد لأستاندات متنقلة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Karl-Marx-Straße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الشارع التجاري الرئيسي، مناسب لأستاندات دائمة ومتنقلة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192" name="📌 المناطق الحيوية لتوزيع الأستاندات"/>
          <p:cNvSpPr txBox="1"/>
          <p:nvPr/>
        </p:nvSpPr>
        <p:spPr>
          <a:xfrm>
            <a:off x="8275645" y="8190054"/>
            <a:ext cx="3585110" cy="103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📌 المناطق الحيوية لتوزيع الأستاندات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graphicFrame>
        <p:nvGraphicFramePr>
          <p:cNvPr id="193" name="Table 1-2-1"/>
          <p:cNvGraphicFramePr/>
          <p:nvPr/>
        </p:nvGraphicFramePr>
        <p:xfrm>
          <a:off x="8275645" y="6120690"/>
          <a:ext cx="5792967" cy="128513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96996"/>
                <a:gridCol w="1930209"/>
                <a:gridCol w="2353060"/>
              </a:tblGrid>
              <a:tr h="212072">
                <a:tc>
                  <a:txBody>
                    <a:bodyPr/>
                    <a:lstStyle/>
                    <a:p>
                      <a:pPr defTabSz="457200"/>
                      <a:r>
                        <a:rPr b="1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Dealer</a:t>
                      </a:r>
                    </a:p>
                  </a:txBody>
                  <a:tcPr marL="25400" marR="25400" marT="0" marB="254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Covers</a:t>
                      </a:r>
                    </a:p>
                  </a:txBody>
                  <a:tcPr marL="25400" marR="25400" marT="0" marB="254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Suggested Location</a:t>
                      </a:r>
                    </a:p>
                  </a:txBody>
                  <a:tcPr marL="25400" marR="25400" marT="0" marB="25400" anchor="t" anchorCtr="0" horzOverflow="overflow">
                    <a:solidFill>
                      <a:srgbClr val="FFFFFF"/>
                    </a:solidFill>
                  </a:tcPr>
                </a:tc>
              </a:tr>
              <a:tr h="212072"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Dealer A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Neukölln + Britz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Sonnenallee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</a:tr>
              <a:tr h="212072"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Dealer B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Rudow + Buckow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Groß-Ziethener Chaussee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</a:tr>
              <a:tr h="212072"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Dealer C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Gropiusstadt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Gropius Passagen / Wutzkyallee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</a:tr>
              <a:tr h="212072"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Dealer D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 Neukölln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Karl-Marx-Straße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</a:tr>
              <a:tr h="212072"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Dealer E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East Neukölln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Hermannstraße</a:t>
                      </a:r>
                    </a:p>
                  </a:txBody>
                  <a:tcPr marL="25400" marR="25400" marT="0" marB="25400" anchor="b" anchorCtr="0" horzOverflow="overflow">
                    <a:lnL w="12700">
                      <a:solidFill>
                        <a:srgbClr val="AAAAAA"/>
                      </a:solidFill>
                      <a:miter lim="400000"/>
                    </a:lnL>
                    <a:lnR w="12700">
                      <a:solidFill>
                        <a:srgbClr val="AAAAAA"/>
                      </a:solidFill>
                      <a:miter lim="400000"/>
                    </a:lnR>
                    <a:lnT w="12700">
                      <a:solidFill>
                        <a:srgbClr val="AAAAAA"/>
                      </a:solidFill>
                      <a:miter lim="400000"/>
                    </a:lnT>
                    <a:lnB w="12700">
                      <a:solidFill>
                        <a:srgbClr val="AAAAAA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🔍 نقاط استراتيجية إضافية لتسريع الانتشار وبناء خطة ذكية:"/>
          <p:cNvSpPr txBox="1"/>
          <p:nvPr/>
        </p:nvSpPr>
        <p:spPr>
          <a:xfrm>
            <a:off x="707877" y="492922"/>
            <a:ext cx="5761834" cy="1313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🔍 نقاط استراتيجية إضافية لتسريع الانتشار وبناء خطة ذكية:</a:t>
            </a: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graphicFrame>
        <p:nvGraphicFramePr>
          <p:cNvPr id="196" name="Table 1"/>
          <p:cNvGraphicFramePr/>
          <p:nvPr/>
        </p:nvGraphicFramePr>
        <p:xfrm>
          <a:off x="944118" y="2214061"/>
          <a:ext cx="6334947" cy="162250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28956"/>
                <a:gridCol w="1548363"/>
                <a:gridCol w="1559036"/>
                <a:gridCol w="1385889"/>
              </a:tblGrid>
              <a:tr h="402451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الفئة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السلوك الشرائي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أين يتواجد؟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ماذا يشتري؟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02451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شباب من أصل عربي/تركي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يستخدم الزيت والبلسم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صالونات رجالية، Spätis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العناية باللحية والشعر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02451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Hipsters (جدد على المنطقة)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يفضل المنتجات العضوية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مقاهي، متاجر طبيعية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جل/شامبو طبيعي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402451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أرباب الأسر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يركز على السعر والكمية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سوبرماركت، الأسواق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باقات اقتصادية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197" name="1. تحليل نوع العملاء المستهدفين (Customer Profiling)"/>
          <p:cNvSpPr txBox="1"/>
          <p:nvPr/>
        </p:nvSpPr>
        <p:spPr>
          <a:xfrm>
            <a:off x="2104860" y="1082112"/>
            <a:ext cx="4000763" cy="1055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تحليل نوع العملاء المستهدفين (Customer Profiling)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98" name="حدد 3 فئات رئيسية لكل منطقة:"/>
          <p:cNvSpPr txBox="1"/>
          <p:nvPr/>
        </p:nvSpPr>
        <p:spPr>
          <a:xfrm>
            <a:off x="851780" y="1787513"/>
            <a:ext cx="1712335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حدد 3 فئات رئيسية لكل منطقة: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99" name="2. مشاركة الموزع في الحملات الميدانية (Street Marketing)…"/>
          <p:cNvSpPr txBox="1"/>
          <p:nvPr/>
        </p:nvSpPr>
        <p:spPr>
          <a:xfrm>
            <a:off x="884375" y="4231557"/>
            <a:ext cx="4223966" cy="2198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مشاركة الموزع في الحملات الميدانية (Street Marketing)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اجعل كل موزع مسؤول عن: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تنظيم </a:t>
            </a:r>
            <a:r>
              <a:rPr b="1"/>
              <a:t>فعالية شهرية</a:t>
            </a:r>
            <a:r>
              <a:t> في السوق المحلي أو المسجد أو مركز ثقافي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توزيع عينات مجانية + كروت خصم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توفير استبيانات ميدانية لفهم السوق</a:t>
            </a:r>
          </a:p>
        </p:txBody>
      </p:sp>
      <p:sp>
        <p:nvSpPr>
          <p:cNvPr id="200" name="3. ربط النقاط الجغرافية بالبيانات الرقمية (Geo-Segmentation)…"/>
          <p:cNvSpPr txBox="1"/>
          <p:nvPr/>
        </p:nvSpPr>
        <p:spPr>
          <a:xfrm>
            <a:off x="720694" y="6407714"/>
            <a:ext cx="4551328" cy="2833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3. ربط النقاط الجغرافية بالبيانات الرقمية (Geo-Segmentation)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استخدم أدوات مثل Google Maps أو MyMaps لتحديد: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تغطية كل موزع (Zone)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أماكن ضعيفة التوزيع (Red Zones)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مراكز نفوذ اجتماعي (مثل المدارس، المساجد، المراكز الاجتماعية)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01" name="4. برنامج شراكة مع الصالونات (Salon Partner Program)…"/>
          <p:cNvSpPr txBox="1"/>
          <p:nvPr/>
        </p:nvSpPr>
        <p:spPr>
          <a:xfrm>
            <a:off x="888672" y="8524001"/>
            <a:ext cx="4215372" cy="1093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4. برنامج شراكة مع الصالونات (Salon Partner Program)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أنشئ نظام نقاط أو عمولة خاص لصاحب الصالون:</a:t>
            </a:r>
          </a:p>
        </p:txBody>
      </p:sp>
      <p:graphicFrame>
        <p:nvGraphicFramePr>
          <p:cNvPr id="202" name="Table 1-1"/>
          <p:cNvGraphicFramePr/>
          <p:nvPr/>
        </p:nvGraphicFramePr>
        <p:xfrm>
          <a:off x="1087598" y="9900152"/>
          <a:ext cx="5015093" cy="160980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02322"/>
                <a:gridCol w="1951613"/>
                <a:gridCol w="1648456"/>
              </a:tblGrid>
              <a:tr h="399276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نوع الشراكة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المكافأة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المتطلبات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99276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Bronze Partner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خصم 10% على الطلبات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شراء شهري منتظم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99276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Silver Partner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عمولة 5% على كل بيع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ترويج على السوشيال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99276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Gold Partner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أستاند مجاني + نقاط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تغطية فيديو ومراجعة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203" name="5. التعاون مع شخصيات محلية مؤثرة (Micro-Influencers)…"/>
          <p:cNvSpPr txBox="1"/>
          <p:nvPr/>
        </p:nvSpPr>
        <p:spPr>
          <a:xfrm>
            <a:off x="8579154" y="510612"/>
            <a:ext cx="4289269" cy="2198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5. التعاون مع شخصيات محلية مؤثرة (Micro-Influencers)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استهداف: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حلاق معروف في الحي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صاحب محل لديه متابعين على TikTok أو Instagram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أفراد من الجالية لديهم ولاء عالي للمجتمع</a:t>
            </a:r>
          </a:p>
        </p:txBody>
      </p:sp>
      <p:sp>
        <p:nvSpPr>
          <p:cNvPr id="204" name="6. ترجمة مواد التسويق بأكثر من لغة…"/>
          <p:cNvSpPr txBox="1"/>
          <p:nvPr/>
        </p:nvSpPr>
        <p:spPr>
          <a:xfrm>
            <a:off x="8532562" y="2936932"/>
            <a:ext cx="4382451" cy="3575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6. ترجمة مواد التسويق بأكثر من لغة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⇨ اللغة العربية + التركية + الإنجليزية + الألمانية</a:t>
            </a:r>
            <a:br/>
            <a:r>
              <a:t>مثال: "منتج لحيتك ✂️ مصنوع خصيصًا لك" ⇨ يظهر في شكل بوستر بثلاث لغات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7. تحفيز Spätis والمتاجر الصغيرة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قدم لهم: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أستاند مجاني (مقابل حد أدنى من الطلب)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مواد دعائية جاهزة (بوستر، ستاند صغير، كروت خصم)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خصومات شهرية على المنتجات الأكثر مبيعًا</a:t>
            </a:r>
          </a:p>
        </p:txBody>
      </p:sp>
      <p:graphicFrame>
        <p:nvGraphicFramePr>
          <p:cNvPr id="205" name="HAIROTICMEN_Customer_Segments_Deep"/>
          <p:cNvGraphicFramePr/>
          <p:nvPr/>
        </p:nvGraphicFramePr>
        <p:xfrm>
          <a:off x="6581597" y="9239708"/>
          <a:ext cx="17462501" cy="19304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133600"/>
                <a:gridCol w="3111500"/>
                <a:gridCol w="3352800"/>
                <a:gridCol w="3060700"/>
                <a:gridCol w="2933700"/>
                <a:gridCol w="2819400"/>
              </a:tblGrid>
              <a:tr h="351332">
                <a:tc gridSpan="6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HAIROTICMEN_Customer_Segments_Deep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Customer Segment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Product Interest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Shopping Behavior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Best Location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Sales Tactic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Message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شباب عربي / تركي (18–35)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زيت اللحية، بلسم اللحية، شامبو اللحية، سيليكون مخملي، تونك اللحية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يحب الرائحة القوية، التجربة الفورية، التسوق من الصالونات والمتاجر العربية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صالونات رجالية - Hermannstraße / Sonnenallee / Spätis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عرض منتج في الصالون مع تجربة مجانية + خصم عند الشراء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خلّي لحيتك تحكي عنك – بالعطر الشرقي والنعومة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رب أسرة من الجالية العربية / التركية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باقة شامبو + بلسم + زيت (3in1 أو 6in1)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يبحث عن الكمية والسعر الجيد، يشتري من سوبرماركت أو الجملة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Kaufland / REWE / Eurogida / Supermarkets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باقات عائلية بسعر خاص + نقاط على كل شراء + كتالوج بالعربية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حماية وأناقة لكل أفراد البيت… بسعر ذكي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هيبستر ألماني / أوروبي (25–40)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شامبو عضوي، زيت نقي، تونك طبيعي، عبوة فاخرة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يهتم بالتفاصيل، التصميم، البيئة، يشتري من متاجر عضوية أو مستقلة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Bio Company, Urban Spätis, صالونات طبيعية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عبوة مصممة بتغليف حديث، بروشور بيئي، شهادات ISO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Sustainable Grooming – powered by your beard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الشباب الأوروبي التقليدي (شرق أوروبا)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جل، بلسم، زيت برائحة قوية، تونك بخاخ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سعر مهم، عبوة عملية، سهل الاستخدام، شراء سريع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صالونات شعبية، متاجر حلاقة، ميني ماركت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أستاند بارز فيه جل + زيت + خصم عند الشراء معًا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قوة في اليد، وأناقة تدوم – بأقل سعر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زبون صالونات walk-in (كل الخلفيات)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كل المنتجات حسب الاستخدام الفوري (بلسم، زيت، تونك)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لا يشتري إلا بعد أن يجربه عليه الحلاق، يتبع توصية الحلاق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كل الصالونات (الرجالية / الشرقية / المختلطة)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الحلاق يستخدم المنتج + عرض خاص داخل الصالون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جربه… وقرّر – منتجك من أول لمسة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06" name="HAIROTICMEN Customer Segments"/>
          <p:cNvSpPr txBox="1"/>
          <p:nvPr/>
        </p:nvSpPr>
        <p:spPr>
          <a:xfrm>
            <a:off x="6605292" y="6718300"/>
            <a:ext cx="244249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HAIROTICMEN Customer Segments</a:t>
            </a:r>
          </a:p>
        </p:txBody>
      </p:sp>
      <p:graphicFrame>
        <p:nvGraphicFramePr>
          <p:cNvPr id="207" name="HAIROTICMEN_Persona_Marketing_Strategy"/>
          <p:cNvGraphicFramePr/>
          <p:nvPr/>
        </p:nvGraphicFramePr>
        <p:xfrm>
          <a:off x="6555108" y="11007378"/>
          <a:ext cx="17469124" cy="1915465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423328"/>
                <a:gridCol w="1935877"/>
                <a:gridCol w="2423328"/>
                <a:gridCol w="1587698"/>
                <a:gridCol w="2242275"/>
                <a:gridCol w="1838387"/>
                <a:gridCol w="2116930"/>
                <a:gridCol w="2896852"/>
              </a:tblGrid>
              <a:tr h="351332">
                <a:tc gridSpan="8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HAIROTICMEN_Persona_Marketing_Strategy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165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Persona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Example Name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Preferred Products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Where He Buys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Sales Channel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Marketing Message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Best Districts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Offer Strategy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6178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شباب عربي / تركي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أحمد - 26 سنة - موظف في مطعم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زيت، بلسم، تونك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صالون، Späti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صالونات شعبية + متاجر الحلاقة + Spätis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رائحة الشرق، أناقة الغرب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Neukölln, Kreuzberg, Wedding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اشترِ زيت واحصل على عينة بلسم مجاناً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9197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رب الأسرة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يوسف - 38 سنة - يعمل في البناء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3in1 أو 6in1 باقة عائلية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سوبرماركت أو تاجر جملة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REWE, Kaufland, Eurogida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أناقة لكل أفراد العائلة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Spandau, Marzahn, Lichtenberg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خصم 10% على الباقة + نقاط ولاء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9197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هيبستر ألماني / أوروبي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Niklas - 32 سنة - يعمل كمصمم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زيت طبيعي، شامبو عضوي، تونك بدون كحول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متاجر عضوية، صالونات فاخرة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Bio Company, DM, صالونات عصرية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Grooming green, stay clean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Prenzlauer Berg, Friedrichshain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عبوة فاخرة + عينة + بروشور عضوي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9197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الشاب الأوروبي الكلاسيكي (شرق أوروبا)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Ivan - 30 سنة - كهربائي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جل، زيت برائحة قوية، بلسم قوي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ميني ماركت، صالون شعبي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صالونات حلاقة + سوبرماركت صغيرة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قوة الرجولة تبدأ من العناية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Lichtenberg, Marzahn, Mitte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خصم على حزمة: جل + بلسم + زيت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9197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زبون صالونات walk-in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أي شخص لا يشتري إلا إذا جُرّب عليه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أي منتج يُستخدم عليه مباشرة (بلسم، زيت، تونك)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من داخل الصالون بعد التجربة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كل الصالونات المتوسطة والكبيرة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جربه بنفسك… ستطلبه فوراً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جميع الأحياء النشطة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استخدام المنتج داخل الصالون + خصم عند الشراء الفوري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208" name="Table 1-2"/>
          <p:cNvGraphicFramePr/>
          <p:nvPr/>
        </p:nvGraphicFramePr>
        <p:xfrm>
          <a:off x="18663459" y="2989825"/>
          <a:ext cx="4136727" cy="206014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42178"/>
                <a:gridCol w="2381847"/>
              </a:tblGrid>
              <a:tr h="255930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العنصر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مثال – شباب عربي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2559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الاسم الافتراضي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أحمد، 26 سنة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2559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المهنة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حلاق أو موظف مطعم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2559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نوع المنتج المفضل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زيت بلسم قوي الرائحة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2559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أين يعيش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Sonnenallee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2559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أين يشتري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الصالون / Späti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2559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لماذا يشتري؟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الشكل + الثقة + الرائحة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25593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من يؤثر عليه؟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الحلاق / الأصدقاء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graphicFrame>
        <p:nvGraphicFramePr>
          <p:cNvPr id="209" name="Table 1-3"/>
          <p:cNvGraphicFramePr/>
          <p:nvPr/>
        </p:nvGraphicFramePr>
        <p:xfrm>
          <a:off x="18883461" y="1043452"/>
          <a:ext cx="5027793" cy="173326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44932"/>
                <a:gridCol w="3170160"/>
              </a:tblGrid>
              <a:tr h="344113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الفئة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القناة المثلى للتوزيع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44113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شباب عربي/تركي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الصالونات الشعبية + Spätis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44113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الهيبستر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متاجر عضوية + صالونات عصرية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44113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رب الأسرة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سوبرماركت + العروض العائلية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44113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الحلاقون المباشرون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برامج الشراكة في الصالون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graphicFrame>
        <p:nvGraphicFramePr>
          <p:cNvPr id="210" name="Table 1-4"/>
          <p:cNvGraphicFramePr/>
          <p:nvPr/>
        </p:nvGraphicFramePr>
        <p:xfrm>
          <a:off x="18378659" y="5263076"/>
          <a:ext cx="5386626" cy="13261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871"/>
                <a:gridCol w="2400573"/>
                <a:gridCol w="2173479"/>
              </a:tblGrid>
              <a:tr h="328362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الفئة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الأحياء الأكثر تواجداً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مواقع البيع المحتملة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8362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شباب عربي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Neukölln، Kreuzberg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Hermannstraße، Sonnenallee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8362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هيبستر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Friedrichshain، Prenzlauer Berg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Boxhagener Platz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8362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رب أسرة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Spandau، Marzahn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Kaufland، REWE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graphicFrame>
        <p:nvGraphicFramePr>
          <p:cNvPr id="211" name="Table 1-5"/>
          <p:cNvGraphicFramePr/>
          <p:nvPr/>
        </p:nvGraphicFramePr>
        <p:xfrm>
          <a:off x="19557482" y="6811186"/>
          <a:ext cx="4228071" cy="172056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72929"/>
                <a:gridCol w="3442441"/>
              </a:tblGrid>
              <a:tr h="341573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الفئة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العرض المناسب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41573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شباب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جرب الزيت – وادفع لاحقًا (Buy 1 get 1 small)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41573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رب الأسرة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خصم عائلي على باقة 3 منتجات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41573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هيبستر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عبوة خاصة + عينة مجانية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41573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الصالونات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عمولة على البيع + هدية مجانية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graphicFrame>
        <p:nvGraphicFramePr>
          <p:cNvPr id="212" name="Table 1-6"/>
          <p:cNvGraphicFramePr/>
          <p:nvPr/>
        </p:nvGraphicFramePr>
        <p:xfrm>
          <a:off x="13068475" y="7784793"/>
          <a:ext cx="5523979" cy="152250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57753"/>
                <a:gridCol w="1408521"/>
                <a:gridCol w="2020677"/>
                <a:gridCol w="1324326"/>
              </a:tblGrid>
              <a:tr h="377451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الفئة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المنتج المثالي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الكمية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الملاحظة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77451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الحلاقون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بلسم + تونك + زيت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6–12 وحدة لكل منتج شهريًا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يستخدمها ويبيعها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77451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الشباب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زيت 50ML + تونك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2–3 شهريًا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للاستخدام الفردي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77451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رب الأسرة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باقة 3in1 أو 6in1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 باقة شهريًا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اقتصادية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213" name="🧩 نقاط استراتيجية إضافية لتحسين فهم وتفعيل Customer Segments:…"/>
          <p:cNvSpPr txBox="1"/>
          <p:nvPr/>
        </p:nvSpPr>
        <p:spPr>
          <a:xfrm>
            <a:off x="13053017" y="358565"/>
            <a:ext cx="6611275" cy="7860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🧩 نقاط استراتيجية إضافية لتحسين فهم وتفعيل Customer Segments: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✅ تحديد شخصية العميل (Customer Persona)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لكل فئة، قم بإنشاء نموذج يمثل "شخصية العميل" كما يلي: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🟡 هذا النموذج يساعد في تصميم الإعلانات والعروض الترويجية بذكاء أكبر.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✅ ربط كل فئة بقناة بيع مناسبة (Channel Match)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💡 هذا الربط يساعدك في عدم تضييع الموارد في قنوات لا تتفاعل مع الفئة.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3. ✅ رسم خريطة الانتشار (Geo-Mapping لكل فئة)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لكل فئة، يمكنك استخدام Google Maps أو خريطة برلين لتحديد: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📌 يساعدك ذلك في وضع الأستاندات ومواد الدعاية بذكاء.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4. ✅ تحفيز كل فئة بعرض مختلف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لكل فئة، اجعل العرض الترويجي موجهًا بدقة: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5. ✅ ربط الفئة بالمنتج المقترح + الكمية المثالية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مثال: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🗺️ Overview of Baden-Württemberg…"/>
          <p:cNvSpPr txBox="1"/>
          <p:nvPr/>
        </p:nvSpPr>
        <p:spPr>
          <a:xfrm>
            <a:off x="842626" y="370124"/>
            <a:ext cx="12401775" cy="535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🗺️ Overview of Baden-Württemberg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Capital</a:t>
            </a:r>
            <a:r>
              <a:t>: Stuttgart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35,751 km²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11.1 million (as of December 2023)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Distance from Berlin</a:t>
            </a:r>
            <a:r>
              <a:t>: Approximately 557 km (straight-line distance)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Administrative Divisions</a:t>
            </a:r>
            <a:r>
              <a:t>: 4 Regierungsbezirke (administrative districts), subdivided into 35 rural districts (</a:t>
            </a:r>
            <a:r>
              <a:rPr i="1"/>
              <a:t>Landkreise</a:t>
            </a:r>
            <a:r>
              <a:t>) and 9 urban districts (</a:t>
            </a:r>
            <a:r>
              <a:rPr i="1"/>
              <a:t>Stadtkreise</a:t>
            </a:r>
            <a:r>
              <a:t>) </a:t>
            </a:r>
            <a:r>
              <a:rPr u="sng">
                <a:solidFill>
                  <a:srgbClr val="0000EE"/>
                </a:solidFill>
                <a:hlinkClick r:id="rId2" invalidUrl="" action="" tgtFrame="" tooltip="" history="1" highlightClick="0" endSnd="0"/>
              </a:rPr>
              <a:t>Wikipedia+2Wikipedia+2Freepik+2</a:t>
            </a:r>
            <a:r>
              <a:rPr u="sng">
                <a:solidFill>
                  <a:srgbClr val="0000EE"/>
                </a:solidFill>
                <a:hlinkClick r:id="rId3" invalidUrl="" action="" tgtFrame="" tooltip="" history="1" highlightClick="0" endSnd="0"/>
              </a:rPr>
              <a:t>City Population</a:t>
            </a:r>
            <a:r>
              <a:rPr u="sng">
                <a:solidFill>
                  <a:srgbClr val="0000EE"/>
                </a:solidFill>
                <a:hlinkClick r:id="rId4" invalidUrl="" action="" tgtFrame="" tooltip="" history="1" highlightClick="0" endSnd="0"/>
              </a:rPr>
              <a:t>Kiddle+2Rome2Rio+2Wikipedia+2</a:t>
            </a:r>
            <a:r>
              <a:rPr u="sng">
                <a:solidFill>
                  <a:srgbClr val="0000EE"/>
                </a:solidFill>
                <a:hlinkClick r:id="rId5" invalidUrl="" action="" tgtFrame="" tooltip="" history="1" highlightClick="0" endSnd="0"/>
              </a:rPr>
              <a:t>Kiddle+2Wikipedia+2Wikipedia+2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🏛️ Regierungsbezirke (Administrative Districts)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Baden-Württemberg is divided into four Regierungsbezirke:</a:t>
            </a:r>
            <a:r>
              <a:rPr u="sng">
                <a:solidFill>
                  <a:srgbClr val="0000EE"/>
                </a:solidFill>
                <a:hlinkClick r:id="rId6" invalidUrl="" action="" tgtFrame="" tooltip="" history="1" highlightClick="0" endSnd="0"/>
              </a:rPr>
              <a:t>Wikipedia+2Wikipedia+2Wikipedia+2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Freiburg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Karlsruhe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Stuttgart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Tübingen</a:t>
            </a:r>
            <a:endParaRPr b="0"/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Each Regierungsbezirk comprises several </a:t>
            </a:r>
            <a:r>
              <a:rPr i="1"/>
              <a:t>Landkreise</a:t>
            </a:r>
            <a:r>
              <a:t> and </a:t>
            </a:r>
            <a:r>
              <a:rPr i="1"/>
              <a:t>Stadtkreise</a:t>
            </a:r>
          </a:p>
        </p:txBody>
      </p:sp>
      <p:graphicFrame>
        <p:nvGraphicFramePr>
          <p:cNvPr id="216" name="Table 1"/>
          <p:cNvGraphicFramePr/>
          <p:nvPr/>
        </p:nvGraphicFramePr>
        <p:xfrm>
          <a:off x="808142" y="8253879"/>
          <a:ext cx="9584678" cy="425954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79750"/>
                <a:gridCol w="1054186"/>
                <a:gridCol w="1227300"/>
                <a:gridCol w="2263078"/>
                <a:gridCol w="2847660"/>
              </a:tblGrid>
              <a:tr h="326680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District (Kreis)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Type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Area (km²)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Population (approx.)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Distance from Berlin (km)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Stuttgart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Stadtkreis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207.4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632,743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630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Karlsruhe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Stadtkreis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173.5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311,919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670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Mannheim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Stadtkreis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144.96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307,997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620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Freiburg im Breisgau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Stadtkreis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153.1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229,636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800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Heidelberg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Stadtkreis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108.8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160,601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620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Ulm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Stadtkreis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118.7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125,596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600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Esslingen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Landkreis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641.5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536,027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630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Ludwigsburg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Landkreis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687.0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534,808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630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Rhein-Neckar-Kreis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Landkreis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1,061.9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557,819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620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Ortenaukreis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Landkreis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1,860.8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443,482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750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Alb-Donau-Kreis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Landkreis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1,358.9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201,769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610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326680"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Bodenseekreis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Landkreis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664.9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221,208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750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217" name="📊 Key Districts (Kreise) in Baden-Württemberg…"/>
          <p:cNvSpPr txBox="1"/>
          <p:nvPr/>
        </p:nvSpPr>
        <p:spPr>
          <a:xfrm>
            <a:off x="755962" y="6413471"/>
            <a:ext cx="6835007" cy="1154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📊 Key Districts (</a:t>
            </a:r>
            <a:r>
              <a:rPr i="1"/>
              <a:t>Kreise</a:t>
            </a:r>
            <a:r>
              <a:t>) in Baden-Württemberg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Below is a selection of major districts, including their area, population, and approximate distance from Berlin:</a:t>
            </a:r>
          </a:p>
        </p:txBody>
      </p:sp>
      <p:graphicFrame>
        <p:nvGraphicFramePr>
          <p:cNvPr id="218" name="Baden_Wuerttemberg_44_Kreise_Full"/>
          <p:cNvGraphicFramePr/>
          <p:nvPr/>
        </p:nvGraphicFramePr>
        <p:xfrm>
          <a:off x="13542384" y="726927"/>
          <a:ext cx="10264758" cy="11856136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3304560"/>
                <a:gridCol w="1247875"/>
                <a:gridCol w="1294093"/>
                <a:gridCol w="1386528"/>
                <a:gridCol w="3027254"/>
              </a:tblGrid>
              <a:tr h="351332">
                <a:tc gridSpan="5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Baden_Wuerttemberg_44_Kreise_Full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787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Type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Area_km2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Distance_from_Berlin_km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7998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Alb-Donau-Kreis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1357.3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201769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610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Baden-Baden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140.2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56526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690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Biberach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1409.8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206783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Böblingen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617.8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394261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630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Bodenseekreis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664.9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221208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Breisgau-Hochschwarzwald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1378.4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271977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Calw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797.5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161181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670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Emmendingen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679.9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169470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770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Enzkreis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573.9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199878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Esslingen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641.5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536027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630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Freiburg im Breisgau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153.1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236236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Freudenstadt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870.7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121901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Göppingen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642.3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259232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620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Heidelberg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108.8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155175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620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Heidenheim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627.1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135241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Heilbronn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1099.5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353609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620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Heilbronn (Stadt)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99.9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131653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620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Hohenlohekreis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776.8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115335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580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Karlsruhe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1084.9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455350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670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Karlsruhe (Stadt)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173.5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308197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670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Konstanz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817.9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291397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Lörrach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805.6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237212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Ludwigsburg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687.0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534808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630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Main-Tauber-Kreis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1304.1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133459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580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Mannheim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144.9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316256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620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Neckar-Odenwald-Kreis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1126.0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145681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Ortenaukreis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1860.8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443482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Ostalbkreis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1511.5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317263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Pforzheim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98.0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135087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Rastatt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738.8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231356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Ravensburg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1631.8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289725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Rems-Murr-Kreis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858.0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440103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630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Reutlingen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1092.5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293385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630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Rhein-Neckar-Kreis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1061.9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557819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620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Rottweil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769.9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140344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Schwäbisch Hall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1484.0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200597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Schwarzwald-Baar-Kreis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1025.0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213922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Sigmaringen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1204.3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132758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Stuttgart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207.4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613111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630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Tübingen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519.2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234123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630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Tuttlingen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734.4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137423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Ulm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118.7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126329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Waldshut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1131.0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171000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545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Zollernalbkreis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917.7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190000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🗺️ Overview of Bavaria (Bayern)…"/>
          <p:cNvSpPr txBox="1"/>
          <p:nvPr/>
        </p:nvSpPr>
        <p:spPr>
          <a:xfrm>
            <a:off x="885007" y="381761"/>
            <a:ext cx="8472350" cy="129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🗺️ Overview of Bavaria (Bayern)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Capital</a:t>
            </a:r>
            <a:r>
              <a:t>: Munich (München)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70,550 km²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13.18 million (as of December 31, 2023)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Distance from Berlin</a:t>
            </a:r>
            <a:r>
              <a:t>: Approximately 505 km (straight-line distance from Munich to Berlin)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Administrative Divisions</a:t>
            </a:r>
            <a:r>
              <a:t>: 7 Regierungsbezirke (administrative districts), subdivided into 71 rural districts (</a:t>
            </a:r>
            <a:r>
              <a:rPr i="1"/>
              <a:t>Landkreise</a:t>
            </a:r>
            <a:r>
              <a:t>) and 25 urban districts (</a:t>
            </a:r>
            <a:r>
              <a:rPr i="1"/>
              <a:t>Kreisfreie Städte</a:t>
            </a:r>
            <a: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🏛️ Regierungsbezirke (Administrative Districts)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Bavaria is divided into seven Regierungsbezirke: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AutoNum type="arabicPeriod" startAt="1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Oberbayern (Upper Bavaria)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Capital</a:t>
            </a:r>
            <a:r>
              <a:rPr b="0"/>
              <a:t>: Munich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17,529 km²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4.73 million (as of December 31, 2023)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AutoNum type="arabicPeriod" startAt="2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Niederbayern (Lower Bavaria)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Capital</a:t>
            </a:r>
            <a:r>
              <a:t>: Landshut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10,326 km²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1.25 million (as of December 31, 2023)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AutoNum type="arabicPeriod" startAt="3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Oberpfalz (Upper Palatinate)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Capital</a:t>
            </a:r>
            <a:r>
              <a:t>: Regensburg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9,688 km²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1.12 million (as of December 31, 2023)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AutoNum type="arabicPeriod" startAt="3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Oberfranken (Upper Franconia)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Capital</a:t>
            </a:r>
            <a:r>
              <a:t>: Bayreuth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7,233 km²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1.06 million (as of December 31, 2023)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AutoNum type="arabicPeriod" startAt="5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Mittelfranken (Middle Franconia)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Capital</a:t>
            </a:r>
            <a:r>
              <a:rPr b="0"/>
              <a:t>: Ansbach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7,244 km²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1.79 million (as of December 31, 2023)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AutoNum type="arabicPeriod" startAt="6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Unterfranken (Lower Franconia)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Capital</a:t>
            </a:r>
            <a:r>
              <a:t>: Würzburg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8,530 km²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1.32 million (as of December 31, 2023) 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AutoNum type="arabicPeriod" startAt="7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Schwaben (Swabia)</a:t>
            </a:r>
            <a:endParaRPr b="0"/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Capital</a:t>
            </a:r>
            <a:r>
              <a:t>: Augsburg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Area</a:t>
            </a:r>
            <a:r>
              <a:t>: 9,992 km²</a:t>
            </a:r>
          </a:p>
          <a:p>
            <a:pPr lvl="1" marL="9144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Population</a:t>
            </a:r>
            <a:r>
              <a:t>: Approximately 1.92 million (as of December 31, 2023) </a:t>
            </a:r>
          </a:p>
        </p:txBody>
      </p:sp>
      <p:graphicFrame>
        <p:nvGraphicFramePr>
          <p:cNvPr id="221" name="Bavaria_Kreise_Sample"/>
          <p:cNvGraphicFramePr/>
          <p:nvPr/>
        </p:nvGraphicFramePr>
        <p:xfrm>
          <a:off x="9479144" y="510581"/>
          <a:ext cx="4797446" cy="3954577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629199"/>
                <a:gridCol w="737513"/>
                <a:gridCol w="639854"/>
                <a:gridCol w="849088"/>
                <a:gridCol w="937343"/>
              </a:tblGrid>
              <a:tr h="351332">
                <a:tc gridSpan="5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Bavaria_Kreise_Sample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916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Type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Area_km2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Population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Distance_from_Berlin_km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9293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München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310.7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1488719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505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Nürnberg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186.4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526606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440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Augsburg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146.9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298972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575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Regensburg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80.7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149664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Ingolstadt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133.4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139536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525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Würzburg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87.6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131759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470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Fürth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63.4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131712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440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Erlangen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Stadtkreis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76.9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115314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Landkreis München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664.3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359000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505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Landkreis Augsburg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1071.3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254000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575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Landkreis Regensburg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1392.5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196000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Landkreis Würzburg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968.4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163000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470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6735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Landkreis Erlangen-Höchstadt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565.4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135000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1000"/>
                        <a:t>450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222" name="Bavaria_96_Kreise_List"/>
          <p:cNvGraphicFramePr/>
          <p:nvPr/>
        </p:nvGraphicFramePr>
        <p:xfrm>
          <a:off x="14924420" y="549596"/>
          <a:ext cx="2667001" cy="248793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638300"/>
                <a:gridCol w="977900"/>
              </a:tblGrid>
              <a:tr h="351332">
                <a:tc gridSpan="2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Bavaria_96_Kreise_List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Type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Amberg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Aschaffenburg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Augsburg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Bamberg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Bayreuth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Coburg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Erlangen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Ingolstadt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Kaufbeuren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Kempten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Landshut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Memmingen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München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Nürnberg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Passau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Regensburg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Rosenheim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Schwabach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Straubing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Weiden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Würzburg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Fürth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Hof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Ansbach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Neu-Ulm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Kreisfreie Stadt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Aichach-Friedberg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Altötting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Amberg-Sulzbach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Ansbach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Aschaffenburg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Augsburg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Bad Kissingen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Bad Tölz-Wolfratshausen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Bamberg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Bayreuth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Berchtesgadener Land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Cham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Coburg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Dachau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Deggendorf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Dillingen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Dingolfing-Landau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Donau-Ries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Oberallgäu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Bavaria_96_Kreise_List-1"/>
          <p:cNvGraphicFramePr/>
          <p:nvPr/>
        </p:nvGraphicFramePr>
        <p:xfrm>
          <a:off x="18192895" y="549596"/>
          <a:ext cx="2667001" cy="248793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638300"/>
                <a:gridCol w="977900"/>
              </a:tblGrid>
              <a:tr h="351332">
                <a:tc gridSpan="2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Bavaria_96_Kreise_List-1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Type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Ebersberg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Eichstätt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Erding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Erlangen-Höchstadt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Forchheim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Freising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Freyung-Grafenau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Fürstenfeldbruck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Fürth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Garmisch-Partenkirchen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Günzburg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Haßberge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Hof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Kelheim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Kitzingen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Kronach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Kulmbach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Landsberg am Lech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Landshut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Lichtenfels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Lindau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Main-Spessart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Miesbach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Miltenberg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Mühldorf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München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Neuburg-Schrobenhausen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Neumarkt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Neustadt an der Aisch-Bad Windsheim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Neustadt an der Waldnaab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Neu-Ulm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Nürnberger Land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Oberallgäu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Ostallgäu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Passau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Pfaffenhofen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Regen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Regensburg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Rhön-Grabfeld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Rosenheim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Roth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Rottal-Inn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Schwandorf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Starnberg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Bavaria_96_Kreise_List-1-1"/>
          <p:cNvGraphicFramePr/>
          <p:nvPr/>
        </p:nvGraphicFramePr>
        <p:xfrm>
          <a:off x="21459149" y="584803"/>
          <a:ext cx="2667001" cy="248793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638300"/>
                <a:gridCol w="977900"/>
              </a:tblGrid>
              <a:tr h="351332">
                <a:tc gridSpan="2"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b="0"/>
                      </a:pPr>
                      <a:r>
                        <a:rPr sz="1200"/>
                        <a:t>Bavaria_96_Kreise_List-1-1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Kreis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000"/>
                        <a:t>Type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Straubing-Bogen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Tirschenreuth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Traunstein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Unterallgäu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Weilheim-Schongau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Weißenburg-Gunzenhausen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Wunsiedel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253110">
                <a:tc>
                  <a:txBody>
                    <a:bodyPr/>
                    <a:lstStyle/>
                    <a:p>
                      <a:pPr algn="l" defTabSz="457200">
                        <a:defRPr b="0"/>
                      </a:pPr>
                      <a:r>
                        <a:rPr b="1" sz="1000"/>
                        <a:t>Würzburg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000"/>
                        <a:t>Landkreis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